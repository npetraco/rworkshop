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71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17"/>
    <p:restoredTop sz="94718"/>
  </p:normalViewPr>
  <p:slideViewPr>
    <p:cSldViewPr snapToGrid="0">
      <p:cViewPr varScale="1">
        <p:scale>
          <a:sx n="102" d="100"/>
          <a:sy n="102" d="100"/>
        </p:scale>
        <p:origin x="19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5FA24-3E87-1749-9DA0-359891ECA220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F7AC-93E9-404A-AB32-3E854855B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129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5FA24-3E87-1749-9DA0-359891ECA220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F7AC-93E9-404A-AB32-3E854855B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5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5FA24-3E87-1749-9DA0-359891ECA220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F7AC-93E9-404A-AB32-3E854855B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165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5FA24-3E87-1749-9DA0-359891ECA220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F7AC-93E9-404A-AB32-3E854855B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5FA24-3E87-1749-9DA0-359891ECA220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F7AC-93E9-404A-AB32-3E854855B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239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5FA24-3E87-1749-9DA0-359891ECA220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F7AC-93E9-404A-AB32-3E854855B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88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5FA24-3E87-1749-9DA0-359891ECA220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F7AC-93E9-404A-AB32-3E854855B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486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5FA24-3E87-1749-9DA0-359891ECA220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F7AC-93E9-404A-AB32-3E854855B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426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5FA24-3E87-1749-9DA0-359891ECA220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F7AC-93E9-404A-AB32-3E854855B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85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5FA24-3E87-1749-9DA0-359891ECA220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F7AC-93E9-404A-AB32-3E854855B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46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5FA24-3E87-1749-9DA0-359891ECA220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7F7AC-93E9-404A-AB32-3E854855B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601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B5FA24-3E87-1749-9DA0-359891ECA220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F7F7AC-93E9-404A-AB32-3E854855B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16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D87D54F-4653-CD97-46D2-5D23FF0B4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9062" y="334296"/>
            <a:ext cx="9104312" cy="2438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hangingPunct="0">
              <a:lnSpc>
                <a:spcPct val="98000"/>
              </a:lnSpc>
              <a:buClr>
                <a:srgbClr val="000000"/>
              </a:buClr>
              <a:buSzPct val="4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dirty="0">
                <a:latin typeface="Times New Roman"/>
                <a:cs typeface="Times New Roman"/>
              </a:rPr>
              <a:t>Hands-on Introduction to 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81B2D9-14DB-8BC0-6EB7-D059F1740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5212"/>
          <a:stretch>
            <a:fillRect/>
          </a:stretch>
        </p:blipFill>
        <p:spPr bwMode="auto">
          <a:xfrm flipH="1">
            <a:off x="6543669" y="4150615"/>
            <a:ext cx="2444458" cy="2338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BC02DE2D-87BB-2CDC-418A-33F740774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99644" y="4756647"/>
            <a:ext cx="955848" cy="61365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BF3E6175-7E92-EF84-4619-0A33302D8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0838" y="105696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6D79153B-3FE4-BD49-576C-097380E09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0838" y="6618288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9" name="P 1" descr="IMG_2089.jpeg">
            <a:extLst>
              <a:ext uri="{FF2B5EF4-FFF2-40B4-BE49-F238E27FC236}">
                <a16:creationId xmlns:a16="http://schemas.microsoft.com/office/drawing/2014/main" id="{3A70EB2C-59D2-2FA2-030D-2E719ABEC5AC}"/>
              </a:ext>
            </a:extLst>
          </p:cNvPr>
          <p:cNvPicPr/>
          <p:nvPr/>
        </p:nvPicPr>
        <p:blipFill>
          <a:blip r:embed="rId5"/>
          <a:srcRect l="36665" t="30724" r="34167" b="20345"/>
          <a:stretch>
            <a:fillRect/>
          </a:stretch>
        </p:blipFill>
        <p:spPr bwMode="auto">
          <a:xfrm rot="10800000">
            <a:off x="162060" y="4308837"/>
            <a:ext cx="1864391" cy="1794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 descr="IJ_3D_primershear_examp.jpg">
            <a:extLst>
              <a:ext uri="{FF2B5EF4-FFF2-40B4-BE49-F238E27FC236}">
                <a16:creationId xmlns:a16="http://schemas.microsoft.com/office/drawing/2014/main" id="{B713DA8D-3B51-B25D-401A-5C01DFC3038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551" t="21207" r="23050" b="25744"/>
          <a:stretch>
            <a:fillRect/>
          </a:stretch>
        </p:blipFill>
        <p:spPr>
          <a:xfrm>
            <a:off x="2802152" y="2643982"/>
            <a:ext cx="3101686" cy="1764951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516166-3595-BA94-A00D-8DF52836A93E}"/>
              </a:ext>
            </a:extLst>
          </p:cNvPr>
          <p:cNvCxnSpPr/>
          <p:nvPr/>
        </p:nvCxnSpPr>
        <p:spPr>
          <a:xfrm flipV="1">
            <a:off x="2140583" y="4577178"/>
            <a:ext cx="858088" cy="615454"/>
          </a:xfrm>
          <a:prstGeom prst="straightConnector1">
            <a:avLst/>
          </a:prstGeom>
          <a:ln w="63500">
            <a:solidFill>
              <a:srgbClr val="008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2FF1786-2F29-4A0D-4984-AE62CF850E48}"/>
              </a:ext>
            </a:extLst>
          </p:cNvPr>
          <p:cNvCxnSpPr/>
          <p:nvPr/>
        </p:nvCxnSpPr>
        <p:spPr>
          <a:xfrm>
            <a:off x="5728486" y="4577178"/>
            <a:ext cx="858088" cy="615454"/>
          </a:xfrm>
          <a:prstGeom prst="straightConnector1">
            <a:avLst/>
          </a:prstGeom>
          <a:ln w="63500">
            <a:solidFill>
              <a:srgbClr val="008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Rlogo.jpg">
            <a:extLst>
              <a:ext uri="{FF2B5EF4-FFF2-40B4-BE49-F238E27FC236}">
                <a16:creationId xmlns:a16="http://schemas.microsoft.com/office/drawing/2014/main" id="{8BEACCE7-5A8F-68F3-4115-2DFB2BC7B5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5155" y="1397643"/>
            <a:ext cx="536873" cy="40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2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AB0DA252-5F02-EDCD-9E80-A5B078DDC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606" y="422605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charset="0"/>
              </a:rPr>
              <a:t>Outline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6E8130-9A33-B0C7-BC66-C547B2358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577" y="2042157"/>
            <a:ext cx="7790995" cy="393627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887413" lvl="1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/>
                <a:cs typeface="Times New Roman"/>
              </a:rPr>
              <a:t>Mean, median, standard deviation, standard error of the mean</a:t>
            </a:r>
          </a:p>
          <a:p>
            <a:pPr marL="887413" lvl="1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/>
                <a:cs typeface="Times New Roman"/>
              </a:rPr>
              <a:t>Basic probability calculations</a:t>
            </a:r>
          </a:p>
          <a:p>
            <a:pPr marL="887413" lvl="1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/>
                <a:cs typeface="Times New Roman"/>
              </a:rPr>
              <a:t>Using built in distributions</a:t>
            </a:r>
          </a:p>
          <a:p>
            <a:pPr marL="887413" lvl="1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/>
                <a:cs typeface="Times New Roman"/>
              </a:rPr>
              <a:t>Confidence intervals</a:t>
            </a:r>
          </a:p>
          <a:p>
            <a:pPr marL="887413" lvl="1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/>
                <a:cs typeface="Times New Roman"/>
              </a:rPr>
              <a:t>Hypothesis testing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A6CAE22-030B-CC5B-7D88-D1882A1C1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8018" y="35052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87384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EE7FED98-FCDF-D011-467D-F82FDD224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024891"/>
            <a:ext cx="8686800" cy="90771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Given a sample from some population: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70B106-455C-11E5-8AE7-6F8D946E1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6" y="202566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400" dirty="0">
                <a:solidFill>
                  <a:srgbClr val="000000"/>
                </a:solidFill>
                <a:latin typeface="Times New Roman" pitchFamily="18" charset="0"/>
              </a:rPr>
              <a:t>Measures of Central Tendency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D7DBDF0-9CC6-5E38-9177-A9ED80BBB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11049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C47D5AD-9AE0-6DF8-ACCF-A5FACAA30E98}"/>
              </a:ext>
            </a:extLst>
          </p:cNvPr>
          <p:cNvSpPr/>
          <p:nvPr/>
        </p:nvSpPr>
        <p:spPr>
          <a:xfrm>
            <a:off x="0" y="5571417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For reference see (available on-line): </a:t>
            </a:r>
          </a:p>
          <a:p>
            <a:pPr algn="ctr"/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“</a:t>
            </a:r>
            <a:r>
              <a:rPr lang="en-GB" u="sng" dirty="0">
                <a:solidFill>
                  <a:srgbClr val="000000"/>
                </a:solidFill>
                <a:latin typeface="Times New Roman" pitchFamily="18" charset="0"/>
              </a:rPr>
              <a:t>The Dynamic Character of Disguised Behaviour for Text-based, Mixed and Stylized Signatures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”</a:t>
            </a:r>
          </a:p>
          <a:p>
            <a:pPr algn="ctr"/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LA Mohammed, B Found, M Caligiuri and D Rogers</a:t>
            </a:r>
          </a:p>
          <a:p>
            <a:pPr algn="ctr"/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J Forensic Sci  </a:t>
            </a:r>
            <a:r>
              <a:rPr lang="en-GB" b="1" dirty="0">
                <a:solidFill>
                  <a:srgbClr val="000000"/>
                </a:solidFill>
                <a:latin typeface="Times New Roman" pitchFamily="18" charset="0"/>
              </a:rPr>
              <a:t>56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(1),S136-S141 (2011)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303557-7B2F-637B-6DD7-34761FA65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1" y="1606381"/>
            <a:ext cx="8686800" cy="388165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What is a good “summary” value which well describes the sample and uncertainty?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We will look at:</a:t>
            </a:r>
          </a:p>
          <a:p>
            <a:pPr marL="1801813" lvl="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Average (arithmetic mean)</a:t>
            </a:r>
          </a:p>
          <a:p>
            <a:pPr marL="1801813" lvl="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Median</a:t>
            </a:r>
          </a:p>
          <a:p>
            <a:pPr marL="1801813" lvl="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Mode</a:t>
            </a:r>
          </a:p>
          <a:p>
            <a:pPr marL="1801813" lvl="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Standard deviation</a:t>
            </a:r>
          </a:p>
          <a:p>
            <a:pPr marL="1801813" lvl="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Standard error of the mean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8F5BBDB-9D61-4C65-B183-2A313BC7241B}"/>
              </a:ext>
            </a:extLst>
          </p:cNvPr>
          <p:cNvCxnSpPr>
            <a:cxnSpLocks/>
          </p:cNvCxnSpPr>
          <p:nvPr/>
        </p:nvCxnSpPr>
        <p:spPr>
          <a:xfrm>
            <a:off x="1513114" y="4329416"/>
            <a:ext cx="1338943" cy="0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2715B-2EC1-3F6D-CAF0-34756C518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BD9DC40-2D05-906B-4624-EB336FEA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281" y="401181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Basic Statistical Commands: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D15A4D-4482-EB04-023C-A6CF78A09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0694" y="14478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8620CF-7950-48D0-E44F-A11561968B41}"/>
              </a:ext>
            </a:extLst>
          </p:cNvPr>
          <p:cNvSpPr/>
          <p:nvPr/>
        </p:nvSpPr>
        <p:spPr>
          <a:xfrm>
            <a:off x="148591" y="1544995"/>
            <a:ext cx="8858250" cy="4524315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Load data: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read.csv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  </a:t>
            </a:r>
            <a:r>
              <a:rPr lang="en-US" sz="1200" dirty="0">
                <a:solidFill>
                  <a:srgbClr val="00B050"/>
                </a:solidFill>
                <a:latin typeface="Courier"/>
                <a:cs typeface="Courier"/>
              </a:rPr>
              <a:t>"https://</a:t>
            </a:r>
            <a:r>
              <a:rPr lang="en-US" sz="1200" dirty="0" err="1">
                <a:solidFill>
                  <a:srgbClr val="00B050"/>
                </a:solidFill>
                <a:latin typeface="Courier"/>
                <a:cs typeface="Courier"/>
              </a:rPr>
              <a:t>raw.githubusercontent.com</a:t>
            </a:r>
            <a:r>
              <a:rPr lang="en-US" sz="1200" dirty="0">
                <a:solidFill>
                  <a:srgbClr val="00B050"/>
                </a:solidFill>
                <a:latin typeface="Courier"/>
                <a:cs typeface="Courier"/>
              </a:rPr>
              <a:t>/</a:t>
            </a:r>
            <a:r>
              <a:rPr lang="en-US" sz="1200" dirty="0" err="1">
                <a:solidFill>
                  <a:srgbClr val="00B050"/>
                </a:solidFill>
                <a:latin typeface="Courier"/>
                <a:cs typeface="Courier"/>
              </a:rPr>
              <a:t>npetraco</a:t>
            </a:r>
            <a:r>
              <a:rPr lang="en-US" sz="1200" dirty="0">
                <a:solidFill>
                  <a:srgbClr val="00B050"/>
                </a:solidFill>
                <a:latin typeface="Courier"/>
                <a:cs typeface="Courier"/>
              </a:rPr>
              <a:t>/workshop21/master/data/</a:t>
            </a:r>
            <a:r>
              <a:rPr lang="en-US" sz="1200" dirty="0" err="1">
                <a:solidFill>
                  <a:srgbClr val="00B050"/>
                </a:solidFill>
                <a:latin typeface="Courier"/>
                <a:cs typeface="Courier"/>
              </a:rPr>
              <a:t>lamwrite.csv</a:t>
            </a:r>
            <a:r>
              <a:rPr lang="en-US" sz="12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, header=T)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head(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dim(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Dump column 2 to a variable: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aav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[,2]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Look at the data: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hist(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aav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Compute the sample mean: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mean(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aav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Compute the sample median: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median(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aav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Compute the standard deviation: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sd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aav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Standard error of the mean (we need these for CI's):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n &lt;- length(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aav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sd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aav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)/sqrt(n)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EC7E9F-1DF1-8542-7308-8495AB7C7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309" y="2270089"/>
            <a:ext cx="2654049" cy="20706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6CD23B-625D-BA8C-14E5-F832C3C16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736" y="4456697"/>
            <a:ext cx="4556673" cy="233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43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EECC-2F8B-6413-4C3D-1FC740F19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FDE5DB-FA6C-E478-2B54-6463A1847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494" y="305772"/>
            <a:ext cx="9104312" cy="871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hangingPunct="0">
              <a:lnSpc>
                <a:spcPct val="98000"/>
              </a:lnSpc>
              <a:buSzPct val="4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Built in Probability Distributions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3A8F39-8E62-4768-0BC5-D37C0D197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0694" y="10287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463CD6D-ADA5-D0C4-1C68-60784C76C028}"/>
              </a:ext>
            </a:extLst>
          </p:cNvPr>
          <p:cNvSpPr/>
          <p:nvPr/>
        </p:nvSpPr>
        <p:spPr>
          <a:xfrm>
            <a:off x="128021" y="1374756"/>
            <a:ext cx="863879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R has many built in discrete and continuous probability distributions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A26F22-B934-D7E0-E30F-64BEDFFE7B43}"/>
              </a:ext>
            </a:extLst>
          </p:cNvPr>
          <p:cNvSpPr/>
          <p:nvPr/>
        </p:nvSpPr>
        <p:spPr>
          <a:xfrm>
            <a:off x="-413657" y="2590358"/>
            <a:ext cx="97318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Each built in R distribution has: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DA8BF6-9CE3-5617-65FF-1E910651861A}"/>
              </a:ext>
            </a:extLst>
          </p:cNvPr>
          <p:cNvSpPr/>
          <p:nvPr/>
        </p:nvSpPr>
        <p:spPr>
          <a:xfrm>
            <a:off x="1" y="3154144"/>
            <a:ext cx="899541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/>
                <a:cs typeface="Times New Roman"/>
              </a:rPr>
              <a:t>A name</a:t>
            </a:r>
            <a:r>
              <a:rPr lang="en-US" sz="2400" dirty="0">
                <a:latin typeface="Times New Roman"/>
                <a:cs typeface="Times New Roman"/>
              </a:rPr>
              <a:t>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Binomial: </a:t>
            </a:r>
            <a:r>
              <a:rPr lang="en-US" sz="2000" b="1" dirty="0" err="1">
                <a:latin typeface="Courier" pitchFamily="2" charset="0"/>
                <a:cs typeface="Times New Roman"/>
              </a:rPr>
              <a:t>binom</a:t>
            </a:r>
            <a:endParaRPr lang="en-US" sz="2000" b="1" dirty="0">
              <a:latin typeface="Courier" pitchFamily="2" charset="0"/>
              <a:cs typeface="Times New Roman"/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Poisson: </a:t>
            </a:r>
            <a:r>
              <a:rPr lang="en-US" sz="2000" b="1" dirty="0">
                <a:latin typeface="Courier" pitchFamily="2" charset="0"/>
                <a:cs typeface="Times New Roman"/>
              </a:rPr>
              <a:t>pois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Uniform: </a:t>
            </a:r>
            <a:r>
              <a:rPr lang="en-US" sz="2000" b="1" dirty="0" err="1">
                <a:latin typeface="Courier" pitchFamily="2" charset="0"/>
                <a:cs typeface="Times New Roman"/>
              </a:rPr>
              <a:t>unif</a:t>
            </a:r>
            <a:endParaRPr lang="en-US" sz="2000" b="1" dirty="0">
              <a:latin typeface="Courier" pitchFamily="2" charset="0"/>
              <a:cs typeface="Times New Roman"/>
            </a:endParaRP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Gaussian: </a:t>
            </a:r>
            <a:r>
              <a:rPr lang="en-US" sz="2000" b="1" dirty="0">
                <a:latin typeface="Courier" pitchFamily="2" charset="0"/>
                <a:cs typeface="Times New Roman"/>
              </a:rPr>
              <a:t>norm</a:t>
            </a:r>
          </a:p>
          <a:p>
            <a:pPr lvl="3"/>
            <a:endParaRPr lang="en-US" sz="2000" b="1" dirty="0">
              <a:latin typeface="Courier" pitchFamily="2" charset="0"/>
              <a:cs typeface="Times New Roman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/>
                <a:cs typeface="Times New Roman"/>
              </a:rPr>
              <a:t>Four functions </a:t>
            </a:r>
            <a:r>
              <a:rPr lang="en-US" sz="2400" dirty="0">
                <a:latin typeface="Times New Roman"/>
                <a:cs typeface="Times New Roman"/>
              </a:rPr>
              <a:t>to deal with:</a:t>
            </a:r>
          </a:p>
          <a:p>
            <a:pPr marL="1657350" lvl="3" indent="-285750"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Likelihood/density values: “d-function” </a:t>
            </a:r>
          </a:p>
          <a:p>
            <a:pPr marL="1657350" lvl="3" indent="-285750"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Cumulative Probability: “p-function” </a:t>
            </a:r>
          </a:p>
          <a:p>
            <a:pPr marL="1657350" lvl="3" indent="-285750"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Quantiles: “q-function” </a:t>
            </a:r>
          </a:p>
          <a:p>
            <a:pPr marL="1657350" lvl="3" indent="-285750"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Random sampling: “r-functions”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86C7310D-5CCC-61A6-B14F-934FA7AFA101}"/>
              </a:ext>
            </a:extLst>
          </p:cNvPr>
          <p:cNvSpPr/>
          <p:nvPr/>
        </p:nvSpPr>
        <p:spPr>
          <a:xfrm>
            <a:off x="3817619" y="3572308"/>
            <a:ext cx="819743" cy="1166821"/>
          </a:xfrm>
          <a:prstGeom prst="rightBrac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F8C99A-F31D-31B4-EA42-91A75C0F259D}"/>
              </a:ext>
            </a:extLst>
          </p:cNvPr>
          <p:cNvSpPr/>
          <p:nvPr/>
        </p:nvSpPr>
        <p:spPr>
          <a:xfrm>
            <a:off x="4637362" y="3810705"/>
            <a:ext cx="30664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These are the most commonly used</a:t>
            </a:r>
            <a:endParaRPr lang="en-US" sz="2000" b="1" dirty="0">
              <a:latin typeface="Courier" pitchFamily="2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158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2D30D-8099-2781-263B-AC8B0FC7D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789BD1-036D-F241-2E6E-1AEC36C0975E}"/>
              </a:ext>
            </a:extLst>
          </p:cNvPr>
          <p:cNvSpPr txBox="1"/>
          <p:nvPr/>
        </p:nvSpPr>
        <p:spPr>
          <a:xfrm>
            <a:off x="501017" y="1354049"/>
            <a:ext cx="79213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/>
              <a:buChar char="•"/>
            </a:pPr>
            <a:r>
              <a:rPr lang="en-US" b="1" dirty="0" err="1">
                <a:latin typeface="Courier"/>
                <a:cs typeface="Courier"/>
              </a:rPr>
              <a:t>dnorm</a:t>
            </a:r>
            <a:r>
              <a:rPr lang="en-US" dirty="0">
                <a:latin typeface="Times New Roman"/>
                <a:cs typeface="Times New Roman"/>
              </a:rPr>
              <a:t> “d-function” in R is the density (mass) of the distribution</a:t>
            </a:r>
          </a:p>
          <a:p>
            <a:pPr marL="742950" lvl="1" indent="-285750">
              <a:buFont typeface="Arial"/>
              <a:buChar char="•"/>
            </a:pPr>
            <a:r>
              <a:rPr lang="en-US" b="1" dirty="0" err="1">
                <a:latin typeface="Courier"/>
                <a:cs typeface="Courier"/>
              </a:rPr>
              <a:t>pnorm</a:t>
            </a:r>
            <a:r>
              <a:rPr lang="en-US" dirty="0">
                <a:latin typeface="Times New Roman"/>
                <a:cs typeface="Times New Roman"/>
              </a:rPr>
              <a:t> “p-function” in R is the CDFs of the distribution</a:t>
            </a:r>
            <a:endParaRPr lang="en-US" b="1" dirty="0">
              <a:latin typeface="Courier"/>
              <a:cs typeface="Courier"/>
            </a:endParaRPr>
          </a:p>
          <a:p>
            <a:pPr marL="742950" lvl="1" indent="-285750">
              <a:buFont typeface="Arial"/>
              <a:buChar char="•"/>
            </a:pPr>
            <a:r>
              <a:rPr lang="en-US" b="1" dirty="0" err="1">
                <a:latin typeface="Courier"/>
                <a:cs typeface="Courier"/>
              </a:rPr>
              <a:t>qnorm</a:t>
            </a:r>
            <a:r>
              <a:rPr lang="en-US" dirty="0">
                <a:latin typeface="Times New Roman"/>
                <a:cs typeface="Times New Roman"/>
              </a:rPr>
              <a:t> “q-function” in R give the </a:t>
            </a:r>
            <a:r>
              <a:rPr lang="en-US" dirty="0" err="1">
                <a:latin typeface="Times New Roman"/>
                <a:cs typeface="Times New Roman"/>
              </a:rPr>
              <a:t>quantiles</a:t>
            </a:r>
            <a:r>
              <a:rPr lang="en-US" dirty="0">
                <a:latin typeface="Times New Roman"/>
                <a:cs typeface="Times New Roman"/>
              </a:rPr>
              <a:t> of the distribution (x-values) for a given cumulative probability (p-value)</a:t>
            </a:r>
            <a:endParaRPr lang="en-US" b="1" dirty="0">
              <a:latin typeface="Courier"/>
              <a:cs typeface="Courier"/>
            </a:endParaRPr>
          </a:p>
          <a:p>
            <a:pPr marL="742950" lvl="1" indent="-285750">
              <a:buFont typeface="Arial"/>
              <a:buChar char="•"/>
            </a:pPr>
            <a:r>
              <a:rPr lang="en-US" b="1" dirty="0" err="1">
                <a:latin typeface="Courier"/>
                <a:cs typeface="Courier"/>
              </a:rPr>
              <a:t>rnorm</a:t>
            </a:r>
            <a:r>
              <a:rPr lang="en-US" dirty="0">
                <a:latin typeface="Times New Roman"/>
                <a:cs typeface="Times New Roman"/>
              </a:rPr>
              <a:t> “r-functions” in R gives a random sample from the distribution</a:t>
            </a:r>
            <a:endParaRPr lang="en-US" b="1" dirty="0">
              <a:latin typeface="Courier"/>
              <a:cs typeface="Couri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156B84-BD9E-5430-EC9B-0507C9C0D581}"/>
              </a:ext>
            </a:extLst>
          </p:cNvPr>
          <p:cNvSpPr txBox="1"/>
          <p:nvPr/>
        </p:nvSpPr>
        <p:spPr>
          <a:xfrm>
            <a:off x="1853180" y="2847990"/>
            <a:ext cx="6455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*</a:t>
            </a:r>
            <a:r>
              <a:rPr lang="en-US" b="1" u="sng" dirty="0">
                <a:latin typeface="Times New Roman"/>
                <a:cs typeface="Times New Roman"/>
              </a:rPr>
              <a:t>NOTE</a:t>
            </a:r>
            <a:r>
              <a:rPr lang="en-US" dirty="0">
                <a:latin typeface="Times New Roman"/>
                <a:cs typeface="Times New Roman"/>
              </a:rPr>
              <a:t>: “p-functions” and “q-functions” are inverses of each other</a:t>
            </a:r>
            <a:endParaRPr lang="en-US" b="1" dirty="0">
              <a:latin typeface="Courier"/>
              <a:cs typeface="Couri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15A6D9-4D36-E66C-FD87-EF84F7FDF786}"/>
              </a:ext>
            </a:extLst>
          </p:cNvPr>
          <p:cNvSpPr/>
          <p:nvPr/>
        </p:nvSpPr>
        <p:spPr>
          <a:xfrm>
            <a:off x="794363" y="1227846"/>
            <a:ext cx="7514429" cy="1989476"/>
          </a:xfrm>
          <a:prstGeom prst="rect">
            <a:avLst/>
          </a:prstGeom>
          <a:noFill/>
          <a:ln w="38100" cmpd="sng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BEC3040-859B-A87D-42AC-5D5A71E23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8" y="291677"/>
            <a:ext cx="9104312" cy="871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hangingPunct="0">
              <a:lnSpc>
                <a:spcPct val="98000"/>
              </a:lnSpc>
              <a:buSzPct val="4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Example of a Named Distribution: Gaussians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8B77F0F-3CE4-CEC8-79F8-B4200B472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1016" y="88775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E9AABA-D21D-F575-7E62-5C0FF633A8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68"/>
          <a:stretch/>
        </p:blipFill>
        <p:spPr>
          <a:xfrm>
            <a:off x="3947619" y="3368223"/>
            <a:ext cx="4593122" cy="348977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5A67133-F528-F16D-1081-C9B07A82A763}"/>
              </a:ext>
            </a:extLst>
          </p:cNvPr>
          <p:cNvCxnSpPr/>
          <p:nvPr/>
        </p:nvCxnSpPr>
        <p:spPr>
          <a:xfrm>
            <a:off x="6205845" y="3659277"/>
            <a:ext cx="38100" cy="27147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6EF0DD5-AE28-D1D8-78A8-ABA80F597311}"/>
              </a:ext>
            </a:extLst>
          </p:cNvPr>
          <p:cNvSpPr/>
          <p:nvPr/>
        </p:nvSpPr>
        <p:spPr>
          <a:xfrm>
            <a:off x="6023242" y="632915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"/>
                <a:cs typeface="Times"/>
              </a:rPr>
              <a:t>47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4A7A409-51C3-BEEE-BBC6-8C4D80B14613}"/>
              </a:ext>
            </a:extLst>
          </p:cNvPr>
          <p:cNvCxnSpPr/>
          <p:nvPr/>
        </p:nvCxnSpPr>
        <p:spPr>
          <a:xfrm flipH="1" flipV="1">
            <a:off x="6023243" y="4162270"/>
            <a:ext cx="182603" cy="1886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6B0D07-F1D5-BE23-0397-8F4B2516BB74}"/>
              </a:ext>
            </a:extLst>
          </p:cNvPr>
          <p:cNvCxnSpPr>
            <a:cxnSpLocks noChangeAspect="1"/>
          </p:cNvCxnSpPr>
          <p:nvPr/>
        </p:nvCxnSpPr>
        <p:spPr>
          <a:xfrm flipH="1" flipV="1">
            <a:off x="5873889" y="4666768"/>
            <a:ext cx="350787" cy="3623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02EBF41-5C7B-D5FD-656A-B51CB5FA968B}"/>
              </a:ext>
            </a:extLst>
          </p:cNvPr>
          <p:cNvCxnSpPr>
            <a:cxnSpLocks noChangeAspect="1"/>
          </p:cNvCxnSpPr>
          <p:nvPr/>
        </p:nvCxnSpPr>
        <p:spPr>
          <a:xfrm flipH="1" flipV="1">
            <a:off x="5711961" y="5196415"/>
            <a:ext cx="527821" cy="5452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E7C159-A402-735D-F6CA-CBB7E1C6B068}"/>
              </a:ext>
            </a:extLst>
          </p:cNvPr>
          <p:cNvCxnSpPr>
            <a:cxnSpLocks noChangeAspect="1"/>
          </p:cNvCxnSpPr>
          <p:nvPr/>
        </p:nvCxnSpPr>
        <p:spPr>
          <a:xfrm flipH="1" flipV="1">
            <a:off x="5537462" y="5675764"/>
            <a:ext cx="669451" cy="691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94238F-3CB3-DBB1-EE8B-AA39C1C549B5}"/>
              </a:ext>
            </a:extLst>
          </p:cNvPr>
          <p:cNvCxnSpPr>
            <a:cxnSpLocks noChangeAspect="1"/>
          </p:cNvCxnSpPr>
          <p:nvPr/>
        </p:nvCxnSpPr>
        <p:spPr>
          <a:xfrm flipH="1" flipV="1">
            <a:off x="5249548" y="6106837"/>
            <a:ext cx="253409" cy="2617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81E19D-F443-573C-5A1D-AC32508EAC45}"/>
              </a:ext>
            </a:extLst>
          </p:cNvPr>
          <p:cNvCxnSpPr>
            <a:cxnSpLocks noChangeAspect="1"/>
          </p:cNvCxnSpPr>
          <p:nvPr/>
        </p:nvCxnSpPr>
        <p:spPr>
          <a:xfrm flipH="1" flipV="1">
            <a:off x="4717134" y="6247415"/>
            <a:ext cx="118588" cy="1224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E3FA430-FE59-E574-0916-F4718443D2F6}"/>
              </a:ext>
            </a:extLst>
          </p:cNvPr>
          <p:cNvSpPr/>
          <p:nvPr/>
        </p:nvSpPr>
        <p:spPr>
          <a:xfrm>
            <a:off x="4598886" y="4677854"/>
            <a:ext cx="588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"/>
                <a:cs typeface="Times"/>
              </a:rPr>
              <a:t>0.42</a:t>
            </a:r>
          </a:p>
        </p:txBody>
      </p:sp>
      <p:sp>
        <p:nvSpPr>
          <p:cNvPr id="17" name="Curved Down Arrow 16">
            <a:extLst>
              <a:ext uri="{FF2B5EF4-FFF2-40B4-BE49-F238E27FC236}">
                <a16:creationId xmlns:a16="http://schemas.microsoft.com/office/drawing/2014/main" id="{E3A352D5-07AD-0A35-C5AD-3697E45D92E5}"/>
              </a:ext>
            </a:extLst>
          </p:cNvPr>
          <p:cNvSpPr/>
          <p:nvPr/>
        </p:nvSpPr>
        <p:spPr>
          <a:xfrm rot="1359534">
            <a:off x="4977148" y="4740097"/>
            <a:ext cx="1120627" cy="200599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B4B490-70BB-E71C-4270-C3068F2021C7}"/>
              </a:ext>
            </a:extLst>
          </p:cNvPr>
          <p:cNvSpPr/>
          <p:nvPr/>
        </p:nvSpPr>
        <p:spPr>
          <a:xfrm>
            <a:off x="59851" y="4487223"/>
            <a:ext cx="34607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err="1">
                <a:latin typeface="Courier"/>
                <a:cs typeface="Courier"/>
              </a:rPr>
              <a:t>pnorm</a:t>
            </a:r>
            <a:r>
              <a:rPr lang="en-US" sz="1600" b="1" dirty="0">
                <a:latin typeface="Courier"/>
                <a:cs typeface="Courier"/>
              </a:rPr>
              <a:t>(q=</a:t>
            </a:r>
            <a:r>
              <a:rPr lang="en-US" sz="1600" dirty="0">
                <a:latin typeface="Times New Roman"/>
                <a:cs typeface="Times New Roman"/>
              </a:rPr>
              <a:t>47</a:t>
            </a:r>
            <a:r>
              <a:rPr lang="en-US" sz="1600" b="1" dirty="0">
                <a:latin typeface="Courier"/>
                <a:cs typeface="Courier"/>
              </a:rPr>
              <a:t>,mean=50,sd=10)</a:t>
            </a:r>
            <a:r>
              <a:rPr lang="en-US" sz="1600" dirty="0">
                <a:latin typeface="Times New Roman"/>
                <a:cs typeface="Times New Roman"/>
              </a:rPr>
              <a:t>=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DAD086-1880-0D22-DA60-DE6E69B97750}"/>
              </a:ext>
            </a:extLst>
          </p:cNvPr>
          <p:cNvSpPr/>
          <p:nvPr/>
        </p:nvSpPr>
        <p:spPr>
          <a:xfrm>
            <a:off x="3284491" y="4462319"/>
            <a:ext cx="588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"/>
                <a:cs typeface="Times"/>
              </a:rPr>
              <a:t>0.42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C6A3C2-2961-0A16-2A55-3BBD202B49D1}"/>
              </a:ext>
            </a:extLst>
          </p:cNvPr>
          <p:cNvSpPr/>
          <p:nvPr/>
        </p:nvSpPr>
        <p:spPr>
          <a:xfrm>
            <a:off x="50387" y="6357999"/>
            <a:ext cx="34932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err="1">
                <a:latin typeface="Courier"/>
                <a:cs typeface="Courier"/>
              </a:rPr>
              <a:t>qnorm</a:t>
            </a:r>
            <a:r>
              <a:rPr lang="en-US" sz="1600" b="1" dirty="0">
                <a:latin typeface="Courier"/>
                <a:cs typeface="Courier"/>
              </a:rPr>
              <a:t>(p=</a:t>
            </a:r>
            <a:r>
              <a:rPr lang="en-US" sz="1600" dirty="0">
                <a:latin typeface="Times New Roman"/>
                <a:cs typeface="Times New Roman"/>
              </a:rPr>
              <a:t>0.42</a:t>
            </a:r>
            <a:r>
              <a:rPr lang="en-US" sz="1600" b="1" dirty="0">
                <a:latin typeface="Courier"/>
                <a:cs typeface="Courier"/>
              </a:rPr>
              <a:t>,mean=50,sd=10)</a:t>
            </a:r>
            <a:r>
              <a:rPr lang="en-US" sz="1600" dirty="0">
                <a:latin typeface="Times New Roman"/>
                <a:cs typeface="Times New Roman"/>
              </a:rPr>
              <a:t>=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87942A-9588-3442-BF1F-9B4850A3370A}"/>
              </a:ext>
            </a:extLst>
          </p:cNvPr>
          <p:cNvSpPr/>
          <p:nvPr/>
        </p:nvSpPr>
        <p:spPr>
          <a:xfrm>
            <a:off x="3399537" y="633309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"/>
                <a:cs typeface="Times"/>
              </a:rPr>
              <a:t>47</a:t>
            </a:r>
          </a:p>
        </p:txBody>
      </p:sp>
      <p:sp>
        <p:nvSpPr>
          <p:cNvPr id="22" name="Up-Down Arrow 21">
            <a:extLst>
              <a:ext uri="{FF2B5EF4-FFF2-40B4-BE49-F238E27FC236}">
                <a16:creationId xmlns:a16="http://schemas.microsoft.com/office/drawing/2014/main" id="{86AE2015-E88B-590F-57A6-B8C865D0627D}"/>
              </a:ext>
            </a:extLst>
          </p:cNvPr>
          <p:cNvSpPr/>
          <p:nvPr/>
        </p:nvSpPr>
        <p:spPr>
          <a:xfrm>
            <a:off x="3490706" y="4831651"/>
            <a:ext cx="186771" cy="1542372"/>
          </a:xfrm>
          <a:prstGeom prst="up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4FDADF-A9E5-AD76-32AD-32A742E2B32B}"/>
              </a:ext>
            </a:extLst>
          </p:cNvPr>
          <p:cNvSpPr txBox="1"/>
          <p:nvPr/>
        </p:nvSpPr>
        <p:spPr>
          <a:xfrm>
            <a:off x="6205837" y="6077761"/>
            <a:ext cx="15050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/>
                <a:cs typeface="Times New Roman"/>
              </a:rPr>
              <a:t>“input quantity”</a:t>
            </a:r>
          </a:p>
        </p:txBody>
      </p:sp>
    </p:spTree>
    <p:extLst>
      <p:ext uri="{BB962C8B-B14F-4D97-AF65-F5344CB8AC3E}">
        <p14:creationId xmlns:p14="http://schemas.microsoft.com/office/powerpoint/2010/main" val="1230942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  <p:bldP spid="17" grpId="0" animBg="1"/>
      <p:bldP spid="18" grpId="0"/>
      <p:bldP spid="19" grpId="0"/>
      <p:bldP spid="20" grpId="0"/>
      <p:bldP spid="21" grpId="0"/>
      <p:bldP spid="22" grpId="0" animBg="1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4525AE4-D2CA-0B1B-52F0-B7BEF4877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6" y="279102"/>
            <a:ext cx="9104312" cy="871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hangingPunct="0">
              <a:lnSpc>
                <a:spcPct val="98000"/>
              </a:lnSpc>
              <a:buSzPct val="4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Example: quantiles/percentiles with Continuous PDFs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CA13EA4-331C-C068-1863-7F63B2EFC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4264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99195F-8825-2353-C334-1F7A6C196F0D}"/>
              </a:ext>
            </a:extLst>
          </p:cNvPr>
          <p:cNvSpPr/>
          <p:nvPr/>
        </p:nvSpPr>
        <p:spPr>
          <a:xfrm>
            <a:off x="221693" y="1259371"/>
            <a:ext cx="87477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The concentration is certified to follow a normal distribution with mean concentration of 50 ng/mL and standard deviation of 10 ng/</a:t>
            </a:r>
            <a:r>
              <a:rPr lang="en-US" sz="2400" dirty="0" err="1">
                <a:latin typeface="Times New Roman"/>
                <a:cs typeface="Times New Roman"/>
              </a:rPr>
              <a:t>mL.</a:t>
            </a:r>
            <a:endParaRPr lang="en-US" sz="2400" dirty="0">
              <a:latin typeface="Times New Roman"/>
              <a:cs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6EC8C2-7640-577E-739F-16602CE05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982" y="2090368"/>
            <a:ext cx="5536616" cy="457581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9615C6-2DE6-1AB6-EAC5-708E5FA55BAA}"/>
              </a:ext>
            </a:extLst>
          </p:cNvPr>
          <p:cNvSpPr/>
          <p:nvPr/>
        </p:nvSpPr>
        <p:spPr>
          <a:xfrm>
            <a:off x="8236610" y="5530335"/>
            <a:ext cx="3212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2928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B29CC91-52B1-8036-216F-886A8047E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" y="279102"/>
            <a:ext cx="9104312" cy="871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hangingPunct="0">
              <a:lnSpc>
                <a:spcPct val="98000"/>
              </a:lnSpc>
              <a:buSzPct val="4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Example: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quantiles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/percentiles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0DC3165-1446-8615-3085-BB87FFD57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85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BBC570-9675-71F7-E8B3-CCC9DDAC0ABC}"/>
              </a:ext>
            </a:extLst>
          </p:cNvPr>
          <p:cNvSpPr/>
          <p:nvPr/>
        </p:nvSpPr>
        <p:spPr>
          <a:xfrm>
            <a:off x="93281" y="1039385"/>
            <a:ext cx="84566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/>
                <a:cs typeface="Times New Roman"/>
              </a:rPr>
              <a:t>What is the probability that a CRM’s concentration will be measured to be between 30 ng/mL and 70 ng/mL?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B4CD18-1C58-FA7A-DF48-B48A467CA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470" y="6428016"/>
            <a:ext cx="6400800" cy="406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10C7F0-D696-B8FC-8632-5D6E261B4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471" y="1828664"/>
            <a:ext cx="3916233" cy="323662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763F79B-2902-E1A5-8419-EB36D7F9A9FB}"/>
              </a:ext>
            </a:extLst>
          </p:cNvPr>
          <p:cNvCxnSpPr/>
          <p:nvPr/>
        </p:nvCxnSpPr>
        <p:spPr>
          <a:xfrm>
            <a:off x="3633470" y="4037984"/>
            <a:ext cx="0" cy="584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2F37ED7-7958-5FDA-A493-DFC37F0CA549}"/>
              </a:ext>
            </a:extLst>
          </p:cNvPr>
          <p:cNvCxnSpPr/>
          <p:nvPr/>
        </p:nvCxnSpPr>
        <p:spPr>
          <a:xfrm>
            <a:off x="5182870" y="4037984"/>
            <a:ext cx="0" cy="584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7775140-9E2A-B6B2-27BC-51AC4B886B3B}"/>
              </a:ext>
            </a:extLst>
          </p:cNvPr>
          <p:cNvSpPr/>
          <p:nvPr/>
        </p:nvSpPr>
        <p:spPr>
          <a:xfrm>
            <a:off x="2768384" y="3706752"/>
            <a:ext cx="1137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30 </a:t>
            </a:r>
            <a:r>
              <a:rPr lang="en-US" dirty="0" err="1">
                <a:latin typeface="Times New Roman"/>
                <a:cs typeface="Times New Roman"/>
              </a:rPr>
              <a:t>ng</a:t>
            </a:r>
            <a:r>
              <a:rPr lang="en-US" dirty="0">
                <a:latin typeface="Times New Roman"/>
                <a:cs typeface="Times New Roman"/>
              </a:rPr>
              <a:t>/mL 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C3F6E8-0C7A-20DE-9ED1-9FC7E3B51560}"/>
              </a:ext>
            </a:extLst>
          </p:cNvPr>
          <p:cNvSpPr/>
          <p:nvPr/>
        </p:nvSpPr>
        <p:spPr>
          <a:xfrm>
            <a:off x="5041684" y="3694052"/>
            <a:ext cx="11378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70 </a:t>
            </a:r>
            <a:r>
              <a:rPr lang="en-US" dirty="0" err="1">
                <a:latin typeface="Times New Roman"/>
                <a:cs typeface="Times New Roman"/>
              </a:rPr>
              <a:t>ng</a:t>
            </a:r>
            <a:r>
              <a:rPr lang="en-US" dirty="0">
                <a:latin typeface="Times New Roman"/>
                <a:cs typeface="Times New Roman"/>
              </a:rPr>
              <a:t>/mL 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072093-6DC0-2A19-9C2B-AA8464318068}"/>
              </a:ext>
            </a:extLst>
          </p:cNvPr>
          <p:cNvSpPr/>
          <p:nvPr/>
        </p:nvSpPr>
        <p:spPr>
          <a:xfrm>
            <a:off x="1680420" y="5002140"/>
            <a:ext cx="5642409" cy="1384995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The “measurands” (parameters): 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mu    &lt;- 50</a:t>
            </a:r>
          </a:p>
          <a:p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sigma &lt;- 10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# </a:t>
            </a:r>
            <a:r>
              <a:rPr lang="en-US" sz="1200" dirty="0" err="1">
                <a:solidFill>
                  <a:srgbClr val="FFFF00"/>
                </a:solidFill>
                <a:latin typeface="Courier"/>
                <a:cs typeface="Courier"/>
              </a:rPr>
              <a:t>Pr</a:t>
            </a:r>
            <a:r>
              <a:rPr lang="en-US" sz="1200" dirty="0">
                <a:solidFill>
                  <a:srgbClr val="FFFF00"/>
                </a:solidFill>
                <a:latin typeface="Courier"/>
                <a:cs typeface="Courier"/>
              </a:rPr>
              <a:t>(30 &lt;= X &lt;= 70):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pnorm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(70, mean=mu,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sd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=sigma) –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pnorm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(30, mean=mu, </a:t>
            </a:r>
            <a:r>
              <a:rPr lang="en-US" sz="1200" dirty="0" err="1">
                <a:solidFill>
                  <a:schemeClr val="bg1"/>
                </a:solidFill>
                <a:latin typeface="Courier"/>
                <a:cs typeface="Courier"/>
              </a:rPr>
              <a:t>sd</a:t>
            </a:r>
            <a:r>
              <a:rPr lang="en-US" sz="1200" dirty="0">
                <a:solidFill>
                  <a:schemeClr val="bg1"/>
                </a:solidFill>
                <a:latin typeface="Courier"/>
                <a:cs typeface="Courier"/>
              </a:rPr>
              <a:t>=sigma)</a:t>
            </a:r>
          </a:p>
          <a:p>
            <a:endParaRPr lang="en-US" sz="1200" dirty="0">
              <a:solidFill>
                <a:schemeClr val="bg1"/>
              </a:solidFill>
              <a:latin typeface="Courier"/>
              <a:cs typeface="Couri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D44B3A-1E7D-B70B-5F58-F5205F8F70CF}"/>
              </a:ext>
            </a:extLst>
          </p:cNvPr>
          <p:cNvSpPr/>
          <p:nvPr/>
        </p:nvSpPr>
        <p:spPr>
          <a:xfrm>
            <a:off x="6634561" y="2903850"/>
            <a:ext cx="22274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R does the “calculus” for you</a:t>
            </a:r>
            <a:endParaRPr lang="en-US" dirty="0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AA6E240E-440A-CE30-4A3C-6E7776EDF721}"/>
              </a:ext>
            </a:extLst>
          </p:cNvPr>
          <p:cNvSpPr/>
          <p:nvPr/>
        </p:nvSpPr>
        <p:spPr>
          <a:xfrm rot="19351747">
            <a:off x="4127165" y="2999321"/>
            <a:ext cx="2457563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208DA9-5E73-B1EE-3904-1B237A2C71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720" y="1996831"/>
            <a:ext cx="2532669" cy="61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2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4" grpId="0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D3C36-795C-04F4-1E87-549C23D0B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F635652-1562-3C81-73E9-2E0DDE5CD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6" y="279102"/>
            <a:ext cx="9104312" cy="871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hangingPunct="0">
              <a:lnSpc>
                <a:spcPct val="98000"/>
              </a:lnSpc>
              <a:buSzPct val="4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Example: quantiles/percentiles with Continuous PDFs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279D87E-BC0E-9136-F143-108945072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4264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B775487-6749-0A58-BC7A-DDBF3A25456F}"/>
              </a:ext>
            </a:extLst>
          </p:cNvPr>
          <p:cNvSpPr/>
          <p:nvPr/>
        </p:nvSpPr>
        <p:spPr>
          <a:xfrm>
            <a:off x="47372" y="2290237"/>
            <a:ext cx="327695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/>
                <a:cs typeface="Times New Roman"/>
              </a:rPr>
              <a:t>What maximum concentration can we expect for 90% of the samples we may measure?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A5D619-0F50-820C-5E5D-93A50A578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680" y="1027691"/>
            <a:ext cx="5765800" cy="476522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308320-7E6C-520B-0EAC-634E5862C213}"/>
              </a:ext>
            </a:extLst>
          </p:cNvPr>
          <p:cNvCxnSpPr/>
          <p:nvPr/>
        </p:nvCxnSpPr>
        <p:spPr>
          <a:xfrm>
            <a:off x="6961580" y="3633917"/>
            <a:ext cx="38100" cy="1536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A705E98-4D76-58D5-CE97-FCB0759B77EC}"/>
              </a:ext>
            </a:extLst>
          </p:cNvPr>
          <p:cNvSpPr/>
          <p:nvPr/>
        </p:nvSpPr>
        <p:spPr>
          <a:xfrm>
            <a:off x="3643471" y="5892719"/>
            <a:ext cx="53245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What’s the quantile corresponding to 0.9?</a:t>
            </a:r>
            <a:endParaRPr lang="en-US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8DCA62-5A70-4370-7435-59281B324E12}"/>
              </a:ext>
            </a:extLst>
          </p:cNvPr>
          <p:cNvSpPr/>
          <p:nvPr/>
        </p:nvSpPr>
        <p:spPr>
          <a:xfrm>
            <a:off x="5808240" y="3310752"/>
            <a:ext cx="7617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latin typeface="Times New Roman"/>
                <a:cs typeface="Times New Roman"/>
              </a:rPr>
              <a:t>0.9</a:t>
            </a:r>
            <a:endParaRPr lang="en-US" sz="36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C3E3F38-763E-299B-8FC9-ECFBA7B852D8}"/>
              </a:ext>
            </a:extLst>
          </p:cNvPr>
          <p:cNvCxnSpPr>
            <a:cxnSpLocks/>
          </p:cNvCxnSpPr>
          <p:nvPr/>
        </p:nvCxnSpPr>
        <p:spPr>
          <a:xfrm flipH="1" flipV="1">
            <a:off x="6998355" y="5198331"/>
            <a:ext cx="1325" cy="8321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017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51FAC-621A-C477-BD16-8D5B9AB65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C7F982-EBA0-20B1-63FE-C6EDF7EE8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0" y="279102"/>
            <a:ext cx="9104312" cy="871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hangingPunct="0">
              <a:lnSpc>
                <a:spcPct val="98000"/>
              </a:lnSpc>
              <a:buSzPct val="4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Other  Common Distributions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3CAD62-4A6D-2581-3409-7CF08596E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506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836935B-1C8D-34E3-A444-D33E2D40CF54}"/>
              </a:ext>
            </a:extLst>
          </p:cNvPr>
          <p:cNvSpPr/>
          <p:nvPr/>
        </p:nvSpPr>
        <p:spPr>
          <a:xfrm>
            <a:off x="20880" y="1167783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b="1" dirty="0">
                <a:latin typeface="Times New Roman"/>
                <a:cs typeface="Times New Roman"/>
              </a:rPr>
              <a:t>Student-t</a:t>
            </a:r>
            <a:r>
              <a:rPr lang="en-US" sz="2400" dirty="0">
                <a:latin typeface="Times New Roman"/>
                <a:cs typeface="Times New Roman"/>
              </a:rPr>
              <a:t>: </a:t>
            </a:r>
            <a:r>
              <a:rPr lang="en-US" sz="2400" b="1" i="1" u="sng" dirty="0">
                <a:latin typeface="Times New Roman"/>
                <a:cs typeface="Times New Roman"/>
              </a:rPr>
              <a:t>Like</a:t>
            </a:r>
            <a:r>
              <a:rPr lang="en-US" sz="2400" dirty="0">
                <a:latin typeface="Times New Roman"/>
                <a:cs typeface="Times New Roman"/>
              </a:rPr>
              <a:t> a standard normal distribution but fatter tails.</a:t>
            </a:r>
            <a:endParaRPr lang="en-US" sz="2400" i="1" dirty="0">
              <a:latin typeface="Times New Roman"/>
              <a:cs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875A9F-4481-4B93-1CE8-42C169B56F85}"/>
              </a:ext>
            </a:extLst>
          </p:cNvPr>
          <p:cNvSpPr/>
          <p:nvPr/>
        </p:nvSpPr>
        <p:spPr>
          <a:xfrm>
            <a:off x="351080" y="2320956"/>
            <a:ext cx="3505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 err="1">
                <a:latin typeface="Courier"/>
                <a:cs typeface="Courier"/>
              </a:rPr>
              <a:t>df</a:t>
            </a:r>
            <a:r>
              <a:rPr lang="en-US" sz="2000" dirty="0">
                <a:latin typeface="Times New Roman"/>
                <a:cs typeface="Times New Roman"/>
              </a:rPr>
              <a:t>: degrees of freedom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687EE2-3C96-E6CA-6405-1AC86683F1BE}"/>
              </a:ext>
            </a:extLst>
          </p:cNvPr>
          <p:cNvSpPr/>
          <p:nvPr/>
        </p:nvSpPr>
        <p:spPr>
          <a:xfrm>
            <a:off x="173280" y="1917971"/>
            <a:ext cx="28829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Parameters:</a:t>
            </a:r>
            <a:endParaRPr lang="en-US" sz="2000" i="1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B1471F-10C1-71EF-39D6-3E8251EDF0B1}"/>
              </a:ext>
            </a:extLst>
          </p:cNvPr>
          <p:cNvSpPr txBox="1"/>
          <p:nvPr/>
        </p:nvSpPr>
        <p:spPr>
          <a:xfrm>
            <a:off x="3725876" y="1701857"/>
            <a:ext cx="2770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Courier"/>
                <a:cs typeface="Courier"/>
              </a:rPr>
              <a:t>dt</a:t>
            </a:r>
            <a:r>
              <a:rPr lang="en-US" sz="2400" b="1" dirty="0">
                <a:latin typeface="Courier"/>
                <a:cs typeface="Courier"/>
              </a:rPr>
              <a:t>, </a:t>
            </a:r>
            <a:r>
              <a:rPr lang="en-US" sz="2400" b="1" dirty="0" err="1">
                <a:latin typeface="Courier"/>
                <a:cs typeface="Courier"/>
              </a:rPr>
              <a:t>qt</a:t>
            </a:r>
            <a:r>
              <a:rPr lang="en-US" sz="2400" b="1" dirty="0">
                <a:latin typeface="Courier"/>
                <a:cs typeface="Courier"/>
              </a:rPr>
              <a:t>, </a:t>
            </a:r>
            <a:r>
              <a:rPr lang="en-US" sz="2400" b="1" dirty="0" err="1">
                <a:latin typeface="Courier"/>
                <a:cs typeface="Courier"/>
              </a:rPr>
              <a:t>pt</a:t>
            </a:r>
            <a:r>
              <a:rPr lang="en-US" sz="2400" b="1" dirty="0">
                <a:latin typeface="Courier"/>
                <a:cs typeface="Courier"/>
              </a:rPr>
              <a:t>, </a:t>
            </a:r>
            <a:r>
              <a:rPr lang="en-US" sz="2400" b="1" dirty="0" err="1">
                <a:latin typeface="Courier"/>
                <a:cs typeface="Courier"/>
              </a:rPr>
              <a:t>rt</a:t>
            </a:r>
            <a:endParaRPr lang="en-US" sz="2400" b="1" dirty="0">
              <a:latin typeface="Courier"/>
              <a:cs typeface="Couri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DAB27A-D31C-A5A5-6688-D054A9FF18AE}"/>
              </a:ext>
            </a:extLst>
          </p:cNvPr>
          <p:cNvSpPr/>
          <p:nvPr/>
        </p:nvSpPr>
        <p:spPr>
          <a:xfrm>
            <a:off x="33580" y="3733182"/>
            <a:ext cx="9144000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b="1" dirty="0">
                <a:latin typeface="Times New Roman"/>
                <a:cs typeface="Times New Roman"/>
              </a:rPr>
              <a:t>Chi-squared </a:t>
            </a:r>
            <a:r>
              <a:rPr lang="en-US" sz="2400" dirty="0">
                <a:latin typeface="Times New Roman"/>
                <a:cs typeface="Times New Roman"/>
              </a:rPr>
              <a:t>(</a:t>
            </a:r>
            <a:r>
              <a:rPr lang="en-US" sz="2400" dirty="0">
                <a:latin typeface="Symbol" charset="2"/>
                <a:cs typeface="Symbol" charset="2"/>
              </a:rPr>
              <a:t>c</a:t>
            </a:r>
            <a:r>
              <a:rPr lang="en-US" sz="2400" baseline="30000" dirty="0">
                <a:latin typeface="Times New Roman"/>
                <a:cs typeface="Times New Roman"/>
              </a:rPr>
              <a:t>2</a:t>
            </a:r>
            <a:r>
              <a:rPr lang="en-US" sz="2400" dirty="0">
                <a:latin typeface="Times New Roman"/>
                <a:cs typeface="Times New Roman"/>
              </a:rPr>
              <a:t>): Handy especially for comparing raw set of counts. Also, it’s proportional to the likelihood of sample variance for IID data.</a:t>
            </a:r>
            <a:endParaRPr lang="en-US" sz="2400" i="1" dirty="0">
              <a:latin typeface="Times New Roman"/>
              <a:cs typeface="Times New Roman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42B58E-7244-A0C1-137A-A6CE712BEF93}"/>
              </a:ext>
            </a:extLst>
          </p:cNvPr>
          <p:cNvSpPr/>
          <p:nvPr/>
        </p:nvSpPr>
        <p:spPr>
          <a:xfrm>
            <a:off x="363780" y="5512268"/>
            <a:ext cx="3505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 err="1">
                <a:latin typeface="Courier"/>
                <a:cs typeface="Courier"/>
              </a:rPr>
              <a:t>df</a:t>
            </a:r>
            <a:r>
              <a:rPr lang="en-US" sz="2000" dirty="0">
                <a:latin typeface="Times New Roman"/>
                <a:cs typeface="Times New Roman"/>
              </a:rPr>
              <a:t>: degrees of freedom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C11B95-4948-33A8-4B39-EAAC40ADB251}"/>
              </a:ext>
            </a:extLst>
          </p:cNvPr>
          <p:cNvSpPr/>
          <p:nvPr/>
        </p:nvSpPr>
        <p:spPr>
          <a:xfrm>
            <a:off x="185980" y="5109283"/>
            <a:ext cx="28829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Parameters:</a:t>
            </a:r>
            <a:endParaRPr lang="en-US" sz="2000" i="1" dirty="0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1847C3-8DC0-1B5D-0096-FAE6661B14C6}"/>
              </a:ext>
            </a:extLst>
          </p:cNvPr>
          <p:cNvSpPr txBox="1"/>
          <p:nvPr/>
        </p:nvSpPr>
        <p:spPr>
          <a:xfrm>
            <a:off x="2248308" y="4559732"/>
            <a:ext cx="5725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Courier"/>
                <a:cs typeface="Courier"/>
              </a:rPr>
              <a:t>dchisq</a:t>
            </a:r>
            <a:r>
              <a:rPr lang="en-US" sz="2400" b="1" dirty="0">
                <a:latin typeface="Courier"/>
                <a:cs typeface="Courier"/>
              </a:rPr>
              <a:t>, </a:t>
            </a:r>
            <a:r>
              <a:rPr lang="en-US" sz="2400" b="1" dirty="0" err="1">
                <a:latin typeface="Courier"/>
                <a:cs typeface="Courier"/>
              </a:rPr>
              <a:t>qchisq</a:t>
            </a:r>
            <a:r>
              <a:rPr lang="en-US" sz="2400" b="1" dirty="0">
                <a:latin typeface="Courier"/>
                <a:cs typeface="Courier"/>
              </a:rPr>
              <a:t>, </a:t>
            </a:r>
            <a:r>
              <a:rPr lang="en-US" sz="2400" b="1" dirty="0" err="1">
                <a:latin typeface="Courier"/>
                <a:cs typeface="Courier"/>
              </a:rPr>
              <a:t>pchisq</a:t>
            </a:r>
            <a:r>
              <a:rPr lang="en-US" sz="2400" b="1" dirty="0">
                <a:latin typeface="Courier"/>
                <a:cs typeface="Courier"/>
              </a:rPr>
              <a:t>, </a:t>
            </a:r>
            <a:r>
              <a:rPr lang="en-US" sz="2400" b="1" dirty="0" err="1">
                <a:latin typeface="Courier"/>
                <a:cs typeface="Courier"/>
              </a:rPr>
              <a:t>rchisq</a:t>
            </a:r>
            <a:endParaRPr lang="en-US" sz="2400" b="1" dirty="0">
              <a:latin typeface="Courier"/>
              <a:cs typeface="Courier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D083D1-B56D-E568-EF5B-E0C72DAB2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350" y="1638906"/>
            <a:ext cx="2288331" cy="17873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0166B3-8793-1722-D649-314F46A84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486" y="5132444"/>
            <a:ext cx="2103298" cy="164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093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A3571-45F4-1B10-41A4-D15577DD6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8B2B94-919D-0DEB-FE49-72AD68412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506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038EDEC-CCF7-8FB7-B81A-D786D2DF5E59}"/>
              </a:ext>
            </a:extLst>
          </p:cNvPr>
          <p:cNvSpPr/>
          <p:nvPr/>
        </p:nvSpPr>
        <p:spPr>
          <a:xfrm>
            <a:off x="20880" y="1345583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b="1" dirty="0">
                <a:latin typeface="Times New Roman"/>
                <a:cs typeface="Times New Roman"/>
              </a:rPr>
              <a:t>F</a:t>
            </a:r>
            <a:r>
              <a:rPr lang="en-US" sz="2400" dirty="0">
                <a:latin typeface="Times New Roman"/>
                <a:cs typeface="Times New Roman"/>
              </a:rPr>
              <a:t> : Handy especially for comparing outcomes in three or more experiments with different conditions.</a:t>
            </a:r>
            <a:endParaRPr lang="en-US" sz="2400" i="1" dirty="0">
              <a:latin typeface="Times New Roman"/>
              <a:cs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233090-E4D6-F0D2-BD8F-52C9DEA5DEEE}"/>
              </a:ext>
            </a:extLst>
          </p:cNvPr>
          <p:cNvSpPr/>
          <p:nvPr/>
        </p:nvSpPr>
        <p:spPr>
          <a:xfrm>
            <a:off x="351080" y="2680168"/>
            <a:ext cx="3505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>
                <a:latin typeface="Courier"/>
                <a:cs typeface="Courier"/>
              </a:rPr>
              <a:t>df1</a:t>
            </a:r>
            <a:r>
              <a:rPr lang="en-US" sz="2000" dirty="0">
                <a:latin typeface="Times New Roman"/>
                <a:cs typeface="Times New Roman"/>
              </a:rPr>
              <a:t>: degrees of freedom 1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Courier"/>
                <a:cs typeface="Courier"/>
              </a:rPr>
              <a:t>df2</a:t>
            </a:r>
            <a:r>
              <a:rPr lang="en-US" sz="2000" dirty="0">
                <a:latin typeface="Times New Roman"/>
                <a:cs typeface="Times New Roman"/>
              </a:rPr>
              <a:t>: degrees of freedom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050C48-4871-80DD-B7FC-C9E51EC75010}"/>
              </a:ext>
            </a:extLst>
          </p:cNvPr>
          <p:cNvSpPr/>
          <p:nvPr/>
        </p:nvSpPr>
        <p:spPr>
          <a:xfrm>
            <a:off x="173280" y="2277183"/>
            <a:ext cx="28829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Parameters:</a:t>
            </a:r>
            <a:endParaRPr lang="en-US" sz="2000" i="1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716218-4DF4-B79E-1839-E221E7DECC89}"/>
              </a:ext>
            </a:extLst>
          </p:cNvPr>
          <p:cNvSpPr txBox="1"/>
          <p:nvPr/>
        </p:nvSpPr>
        <p:spPr>
          <a:xfrm>
            <a:off x="3043480" y="2040313"/>
            <a:ext cx="2770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Courier"/>
                <a:cs typeface="Courier"/>
              </a:rPr>
              <a:t>df</a:t>
            </a:r>
            <a:r>
              <a:rPr lang="en-US" sz="2400" b="1" dirty="0">
                <a:latin typeface="Courier"/>
                <a:cs typeface="Courier"/>
              </a:rPr>
              <a:t>, </a:t>
            </a:r>
            <a:r>
              <a:rPr lang="en-US" sz="2400" b="1" dirty="0" err="1">
                <a:latin typeface="Courier"/>
                <a:cs typeface="Courier"/>
              </a:rPr>
              <a:t>qf</a:t>
            </a:r>
            <a:r>
              <a:rPr lang="en-US" sz="2400" b="1" dirty="0">
                <a:latin typeface="Courier"/>
                <a:cs typeface="Courier"/>
              </a:rPr>
              <a:t>, </a:t>
            </a:r>
            <a:r>
              <a:rPr lang="en-US" sz="2400" b="1" dirty="0" err="1">
                <a:latin typeface="Courier"/>
                <a:cs typeface="Courier"/>
              </a:rPr>
              <a:t>pf</a:t>
            </a:r>
            <a:r>
              <a:rPr lang="en-US" sz="2400" b="1" dirty="0">
                <a:latin typeface="Courier"/>
                <a:cs typeface="Courier"/>
              </a:rPr>
              <a:t>, </a:t>
            </a:r>
            <a:r>
              <a:rPr lang="en-US" sz="2400" b="1" dirty="0" err="1">
                <a:latin typeface="Courier"/>
                <a:cs typeface="Courier"/>
              </a:rPr>
              <a:t>rf</a:t>
            </a:r>
            <a:endParaRPr lang="en-US" sz="2400" b="1" dirty="0">
              <a:latin typeface="Courier"/>
              <a:cs typeface="Couri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A95401-D8F4-6C2A-A9DA-8D25C18700FD}"/>
              </a:ext>
            </a:extLst>
          </p:cNvPr>
          <p:cNvSpPr/>
          <p:nvPr/>
        </p:nvSpPr>
        <p:spPr>
          <a:xfrm>
            <a:off x="173280" y="3861827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b="1" dirty="0">
                <a:latin typeface="Times New Roman"/>
                <a:cs typeface="Times New Roman"/>
              </a:rPr>
              <a:t>Cauchy</a:t>
            </a:r>
            <a:r>
              <a:rPr lang="en-US" sz="2400" dirty="0">
                <a:latin typeface="Times New Roman"/>
                <a:cs typeface="Times New Roman"/>
              </a:rPr>
              <a:t> : A very fat-tailed distribution. Handy for expressing lots of uncertainty when modeling, while retaining formal properties of a proper probability distribution</a:t>
            </a:r>
            <a:endParaRPr lang="en-US" sz="2400" i="1" dirty="0">
              <a:latin typeface="Times New Roman"/>
              <a:cs typeface="Times New Roman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C66E2B-0BC5-7311-8B9F-D3F288ABB976}"/>
              </a:ext>
            </a:extLst>
          </p:cNvPr>
          <p:cNvSpPr/>
          <p:nvPr/>
        </p:nvSpPr>
        <p:spPr>
          <a:xfrm>
            <a:off x="505068" y="5699472"/>
            <a:ext cx="51063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>
                <a:latin typeface="Courier"/>
                <a:cs typeface="Courier"/>
              </a:rPr>
              <a:t>location</a:t>
            </a:r>
            <a:r>
              <a:rPr lang="en-US" sz="2000" dirty="0">
                <a:latin typeface="Times New Roman"/>
                <a:cs typeface="Times New Roman"/>
              </a:rPr>
              <a:t>: peak location of the density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latin typeface="Courier"/>
                <a:cs typeface="Courier"/>
              </a:rPr>
              <a:t>scale</a:t>
            </a:r>
            <a:r>
              <a:rPr lang="en-US" sz="2000" dirty="0">
                <a:latin typeface="Times New Roman"/>
                <a:cs typeface="Times New Roman"/>
              </a:rPr>
              <a:t>: “fat-ness” of the tails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DE2E7B-F154-69BA-78C6-9A58966A2D31}"/>
              </a:ext>
            </a:extLst>
          </p:cNvPr>
          <p:cNvSpPr/>
          <p:nvPr/>
        </p:nvSpPr>
        <p:spPr>
          <a:xfrm>
            <a:off x="351080" y="5294461"/>
            <a:ext cx="28829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Parameters:</a:t>
            </a:r>
            <a:endParaRPr lang="en-US" sz="2000" i="1" dirty="0">
              <a:latin typeface="Times New Roman"/>
              <a:cs typeface="Times New Roman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01B980-31A9-4D62-5FB4-C48E76D86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040" y="1847240"/>
            <a:ext cx="2201640" cy="17196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B36F72-B2D7-C397-52D2-FCFF0A460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065" y="4926738"/>
            <a:ext cx="2309590" cy="18039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DF9C87D-D18E-146B-C0A6-C8F74CD5EA5C}"/>
              </a:ext>
            </a:extLst>
          </p:cNvPr>
          <p:cNvSpPr txBox="1"/>
          <p:nvPr/>
        </p:nvSpPr>
        <p:spPr>
          <a:xfrm>
            <a:off x="1598734" y="5011481"/>
            <a:ext cx="4871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ourier"/>
                <a:cs typeface="Courier"/>
              </a:rPr>
              <a:t>dcauchy</a:t>
            </a:r>
            <a:r>
              <a:rPr lang="en-US" b="1" dirty="0">
                <a:latin typeface="Courier"/>
                <a:cs typeface="Courier"/>
              </a:rPr>
              <a:t>, </a:t>
            </a:r>
            <a:r>
              <a:rPr lang="en-US" b="1" dirty="0" err="1">
                <a:latin typeface="Courier"/>
                <a:cs typeface="Courier"/>
              </a:rPr>
              <a:t>qcauchy</a:t>
            </a:r>
            <a:r>
              <a:rPr lang="en-US" b="1" dirty="0">
                <a:latin typeface="Courier"/>
                <a:cs typeface="Courier"/>
              </a:rPr>
              <a:t>, </a:t>
            </a:r>
            <a:r>
              <a:rPr lang="en-US" b="1" dirty="0" err="1">
                <a:latin typeface="Courier"/>
                <a:cs typeface="Courier"/>
              </a:rPr>
              <a:t>pcauchy</a:t>
            </a:r>
            <a:r>
              <a:rPr lang="en-US" b="1" dirty="0">
                <a:latin typeface="Courier"/>
                <a:cs typeface="Courier"/>
              </a:rPr>
              <a:t>, </a:t>
            </a:r>
            <a:r>
              <a:rPr lang="en-US" b="1" dirty="0" err="1">
                <a:latin typeface="Courier"/>
                <a:cs typeface="Courier"/>
              </a:rPr>
              <a:t>rcauchy</a:t>
            </a:r>
            <a:endParaRPr lang="en-US" b="1" dirty="0">
              <a:latin typeface="Courier"/>
              <a:cs typeface="Couri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41FF0A-98C6-5811-244E-663AC844C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80" y="279102"/>
            <a:ext cx="9104312" cy="87132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hangingPunct="0">
              <a:lnSpc>
                <a:spcPct val="98000"/>
              </a:lnSpc>
              <a:buSzPct val="45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Other  Common Distributions</a:t>
            </a:r>
          </a:p>
        </p:txBody>
      </p:sp>
    </p:spTree>
    <p:extLst>
      <p:ext uri="{BB962C8B-B14F-4D97-AF65-F5344CB8AC3E}">
        <p14:creationId xmlns:p14="http://schemas.microsoft.com/office/powerpoint/2010/main" val="1432689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7755B-6370-D775-E688-F018337DC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BF06FD0B-0ECD-AFC4-4BB9-FF91C2C2E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206" y="1270686"/>
            <a:ext cx="8686800" cy="404154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Construction of a CI for a mean depends on: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Sample size 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Standard error 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for means 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Level of confidence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1-</a:t>
            </a:r>
            <a:r>
              <a:rPr lang="en-GB" sz="2800" dirty="0">
                <a:solidFill>
                  <a:srgbClr val="000000"/>
                </a:solidFill>
                <a:latin typeface="Symbol" pitchFamily="2" charset="2"/>
              </a:rPr>
              <a:t>a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Symbol" pitchFamily="2" charset="2"/>
              </a:rPr>
              <a:t>a </a:t>
            </a: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is </a:t>
            </a:r>
            <a:r>
              <a:rPr lang="en-GB" sz="2600" b="1" dirty="0">
                <a:solidFill>
                  <a:srgbClr val="000000"/>
                </a:solidFill>
                <a:latin typeface="Times New Roman" pitchFamily="18" charset="0"/>
              </a:rPr>
              <a:t>significance level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Use </a:t>
            </a:r>
            <a:r>
              <a:rPr lang="en-GB" sz="2400" dirty="0">
                <a:solidFill>
                  <a:srgbClr val="000000"/>
                </a:solidFill>
                <a:latin typeface="Symbol" pitchFamily="2" charset="2"/>
              </a:rPr>
              <a:t>a </a:t>
            </a: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to compute </a:t>
            </a:r>
            <a:r>
              <a:rPr lang="en-GB" sz="2600" i="1" dirty="0" err="1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GB" sz="2600" i="1" baseline="-25000" dirty="0" err="1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-value, the critical t-statistic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(1-</a:t>
            </a:r>
            <a:r>
              <a:rPr lang="en-GB" sz="2800" dirty="0">
                <a:solidFill>
                  <a:srgbClr val="000000"/>
                </a:solidFill>
                <a:latin typeface="Symbol" pitchFamily="2" charset="2"/>
              </a:rPr>
              <a:t>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)×100% two-sided CI for population mean using a sample average and standard error is:</a:t>
            </a:r>
            <a:endParaRPr lang="en-GB" sz="28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C857BFD-7BB9-6D17-A205-0B613EC8D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82" y="297248"/>
            <a:ext cx="8607425" cy="762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Confidence Intervals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A83095-4532-4103-7FC2-DD87D9AF7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7594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B0AF8E-E5F9-44BD-00C2-BC1E3B909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612" y="2187729"/>
            <a:ext cx="1830575" cy="8602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8F5BFE-F7FB-1759-7C99-803B39D31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4606" y="5675993"/>
            <a:ext cx="51816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163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11354-B632-9F6A-BF69-E17A099FB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EECA7DDB-9EAA-AEB6-7764-688F51311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9248"/>
            <a:ext cx="8910185" cy="86291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</a:rPr>
              <a:t>Compute the 95% confidence interval for the mean average absolute velocity in the LAM data</a:t>
            </a: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32E99BB-757A-2939-1F3A-FCAD7FCFB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760" y="297248"/>
            <a:ext cx="8607425" cy="762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Confidence Intervals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51BBB6-E1FA-844A-A3B5-A051D15C8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5172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50DAE4-2027-B42A-0C1E-FA23E0EDA992}"/>
              </a:ext>
            </a:extLst>
          </p:cNvPr>
          <p:cNvSpPr/>
          <p:nvPr/>
        </p:nvSpPr>
        <p:spPr>
          <a:xfrm>
            <a:off x="186554" y="2159547"/>
            <a:ext cx="8819660" cy="4093428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FFFF00"/>
                </a:solidFill>
                <a:latin typeface="Courier"/>
                <a:cs typeface="Courier"/>
              </a:rPr>
              <a:t># Load data:</a:t>
            </a:r>
          </a:p>
          <a:p>
            <a:r>
              <a:rPr lang="en-US" sz="13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en-US" sz="1300" dirty="0" err="1">
                <a:solidFill>
                  <a:schemeClr val="bg1"/>
                </a:solidFill>
                <a:latin typeface="Courier"/>
                <a:cs typeface="Courier"/>
              </a:rPr>
              <a:t>read.csv</a:t>
            </a:r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</a:p>
          <a:p>
            <a:r>
              <a:rPr lang="en-US" sz="1300" dirty="0">
                <a:solidFill>
                  <a:srgbClr val="00B050"/>
                </a:solidFill>
                <a:latin typeface="Courier"/>
                <a:cs typeface="Courier"/>
              </a:rPr>
              <a:t>      "https://</a:t>
            </a:r>
            <a:r>
              <a:rPr lang="en-US" sz="1300" dirty="0" err="1">
                <a:solidFill>
                  <a:srgbClr val="00B050"/>
                </a:solidFill>
                <a:latin typeface="Courier"/>
                <a:cs typeface="Courier"/>
              </a:rPr>
              <a:t>raw.githubusercontent.com</a:t>
            </a:r>
            <a:r>
              <a:rPr lang="en-US" sz="1300" dirty="0">
                <a:solidFill>
                  <a:srgbClr val="00B050"/>
                </a:solidFill>
                <a:latin typeface="Courier"/>
                <a:cs typeface="Courier"/>
              </a:rPr>
              <a:t>/</a:t>
            </a:r>
            <a:r>
              <a:rPr lang="en-US" sz="1300" dirty="0" err="1">
                <a:solidFill>
                  <a:srgbClr val="00B050"/>
                </a:solidFill>
                <a:latin typeface="Courier"/>
                <a:cs typeface="Courier"/>
              </a:rPr>
              <a:t>npetraco</a:t>
            </a:r>
            <a:r>
              <a:rPr lang="en-US" sz="1300" dirty="0">
                <a:solidFill>
                  <a:srgbClr val="00B050"/>
                </a:solidFill>
                <a:latin typeface="Courier"/>
                <a:cs typeface="Courier"/>
              </a:rPr>
              <a:t>/workshop21/master/data/</a:t>
            </a:r>
            <a:r>
              <a:rPr lang="en-US" sz="1300" dirty="0" err="1">
                <a:solidFill>
                  <a:srgbClr val="00B050"/>
                </a:solidFill>
                <a:latin typeface="Courier"/>
                <a:cs typeface="Courier"/>
              </a:rPr>
              <a:t>lamwrite.csv</a:t>
            </a:r>
            <a:r>
              <a:rPr lang="en-US" sz="1300" dirty="0">
                <a:solidFill>
                  <a:srgbClr val="00B050"/>
                </a:solidFill>
                <a:latin typeface="Courier"/>
                <a:cs typeface="Courier"/>
              </a:rPr>
              <a:t>"</a:t>
            </a:r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,    </a:t>
            </a:r>
          </a:p>
          <a:p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      header=T)</a:t>
            </a:r>
          </a:p>
          <a:p>
            <a:endParaRPr lang="en-US" sz="13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300" dirty="0">
                <a:solidFill>
                  <a:srgbClr val="FFFF00"/>
                </a:solidFill>
                <a:latin typeface="Courier"/>
                <a:cs typeface="Courier"/>
              </a:rPr>
              <a:t># Average absolute velocity data:</a:t>
            </a:r>
          </a:p>
          <a:p>
            <a:r>
              <a:rPr lang="en-US" sz="1300" dirty="0" err="1">
                <a:solidFill>
                  <a:schemeClr val="bg1"/>
                </a:solidFill>
                <a:latin typeface="Courier"/>
                <a:cs typeface="Courier"/>
              </a:rPr>
              <a:t>aav</a:t>
            </a:r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en-US" sz="1300" dirty="0" err="1">
                <a:solidFill>
                  <a:schemeClr val="bg1"/>
                </a:solidFill>
                <a:latin typeface="Courier"/>
                <a:cs typeface="Courier"/>
              </a:rPr>
              <a:t>dat</a:t>
            </a:r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[,2]</a:t>
            </a:r>
          </a:p>
          <a:p>
            <a:endParaRPr lang="en-US" sz="13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n    &lt;- length(</a:t>
            </a:r>
            <a:r>
              <a:rPr lang="en-US" sz="1300" dirty="0" err="1">
                <a:solidFill>
                  <a:schemeClr val="bg1"/>
                </a:solidFill>
                <a:latin typeface="Courier"/>
                <a:cs typeface="Courier"/>
              </a:rPr>
              <a:t>aav</a:t>
            </a:r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)             </a:t>
            </a:r>
            <a:r>
              <a:rPr lang="en-US" sz="1300" dirty="0">
                <a:solidFill>
                  <a:srgbClr val="FFFF00"/>
                </a:solidFill>
                <a:latin typeface="Courier"/>
                <a:cs typeface="Courier"/>
              </a:rPr>
              <a:t># sample size</a:t>
            </a:r>
          </a:p>
          <a:p>
            <a:r>
              <a:rPr lang="en-US" sz="1300" dirty="0" err="1">
                <a:solidFill>
                  <a:schemeClr val="bg1"/>
                </a:solidFill>
                <a:latin typeface="Courier"/>
                <a:cs typeface="Courier"/>
              </a:rPr>
              <a:t>xbar</a:t>
            </a:r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 &lt;- mean(</a:t>
            </a:r>
            <a:r>
              <a:rPr lang="en-US" sz="1300" dirty="0" err="1">
                <a:solidFill>
                  <a:schemeClr val="bg1"/>
                </a:solidFill>
                <a:latin typeface="Courier"/>
                <a:cs typeface="Courier"/>
              </a:rPr>
              <a:t>aav</a:t>
            </a:r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)               </a:t>
            </a:r>
            <a:r>
              <a:rPr lang="en-US" sz="1300" dirty="0">
                <a:solidFill>
                  <a:srgbClr val="FFFF00"/>
                </a:solidFill>
                <a:latin typeface="Courier"/>
                <a:cs typeface="Courier"/>
              </a:rPr>
              <a:t># sample mean</a:t>
            </a:r>
          </a:p>
          <a:p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se   &lt;- </a:t>
            </a:r>
            <a:r>
              <a:rPr lang="en-US" sz="1300" dirty="0" err="1">
                <a:solidFill>
                  <a:schemeClr val="bg1"/>
                </a:solidFill>
                <a:latin typeface="Courier"/>
                <a:cs typeface="Courier"/>
              </a:rPr>
              <a:t>sd</a:t>
            </a:r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(</a:t>
            </a:r>
            <a:r>
              <a:rPr lang="en-US" sz="1300" dirty="0" err="1">
                <a:solidFill>
                  <a:schemeClr val="bg1"/>
                </a:solidFill>
                <a:latin typeface="Courier"/>
                <a:cs typeface="Courier"/>
              </a:rPr>
              <a:t>aav</a:t>
            </a:r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)/sqrt(n)         </a:t>
            </a:r>
            <a:r>
              <a:rPr lang="en-US" sz="1300" dirty="0">
                <a:solidFill>
                  <a:srgbClr val="FFFF00"/>
                </a:solidFill>
                <a:latin typeface="Courier"/>
                <a:cs typeface="Courier"/>
              </a:rPr>
              <a:t># standard error of the sample mean</a:t>
            </a:r>
          </a:p>
          <a:p>
            <a:endParaRPr lang="en-US" sz="13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conf  &lt;- 0.95                   </a:t>
            </a:r>
            <a:r>
              <a:rPr lang="en-US" sz="1300" dirty="0">
                <a:solidFill>
                  <a:srgbClr val="FFFF00"/>
                </a:solidFill>
                <a:latin typeface="Courier"/>
                <a:cs typeface="Courier"/>
              </a:rPr>
              <a:t># level of confidence</a:t>
            </a:r>
          </a:p>
          <a:p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alpha &lt;- 1 - conf               </a:t>
            </a:r>
            <a:r>
              <a:rPr lang="en-US" sz="1300" dirty="0">
                <a:solidFill>
                  <a:srgbClr val="FFFF00"/>
                </a:solidFill>
                <a:latin typeface="Courier"/>
                <a:cs typeface="Courier"/>
              </a:rPr>
              <a:t># level of significance</a:t>
            </a:r>
          </a:p>
          <a:p>
            <a:r>
              <a:rPr lang="en-US" sz="1300" dirty="0" err="1">
                <a:solidFill>
                  <a:schemeClr val="bg1"/>
                </a:solidFill>
                <a:latin typeface="Courier"/>
                <a:cs typeface="Courier"/>
              </a:rPr>
              <a:t>tc</a:t>
            </a:r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 &lt;- qt(1 - alpha/2, df = n-1) </a:t>
            </a:r>
            <a:r>
              <a:rPr lang="en-US" sz="1300" dirty="0">
                <a:solidFill>
                  <a:srgbClr val="FFFF00"/>
                </a:solidFill>
                <a:latin typeface="Courier"/>
                <a:cs typeface="Courier"/>
              </a:rPr>
              <a:t># </a:t>
            </a:r>
            <a:r>
              <a:rPr lang="en-US" sz="1300" dirty="0" err="1">
                <a:solidFill>
                  <a:srgbClr val="FFFF00"/>
                </a:solidFill>
                <a:latin typeface="Courier"/>
                <a:cs typeface="Courier"/>
              </a:rPr>
              <a:t>tc</a:t>
            </a:r>
            <a:r>
              <a:rPr lang="en-US" sz="1300" dirty="0">
                <a:solidFill>
                  <a:srgbClr val="FFFF00"/>
                </a:solidFill>
                <a:latin typeface="Courier"/>
                <a:cs typeface="Courier"/>
              </a:rPr>
              <a:t> for a two-sided CI</a:t>
            </a:r>
          </a:p>
          <a:p>
            <a:endParaRPr lang="en-US" sz="13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300" dirty="0" err="1">
                <a:solidFill>
                  <a:schemeClr val="bg1"/>
                </a:solidFill>
                <a:latin typeface="Courier"/>
                <a:cs typeface="Courier"/>
              </a:rPr>
              <a:t>xbar.lo</a:t>
            </a:r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en-US" sz="1300" dirty="0" err="1">
                <a:solidFill>
                  <a:schemeClr val="bg1"/>
                </a:solidFill>
                <a:latin typeface="Courier"/>
                <a:cs typeface="Courier"/>
              </a:rPr>
              <a:t>xbar</a:t>
            </a:r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 - </a:t>
            </a:r>
            <a:r>
              <a:rPr lang="en-US" sz="1300" dirty="0" err="1">
                <a:solidFill>
                  <a:schemeClr val="bg1"/>
                </a:solidFill>
                <a:latin typeface="Courier"/>
                <a:cs typeface="Courier"/>
              </a:rPr>
              <a:t>tc</a:t>
            </a:r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*se</a:t>
            </a:r>
          </a:p>
          <a:p>
            <a:r>
              <a:rPr lang="en-US" sz="1300" dirty="0" err="1">
                <a:solidFill>
                  <a:schemeClr val="bg1"/>
                </a:solidFill>
                <a:latin typeface="Courier"/>
                <a:cs typeface="Courier"/>
              </a:rPr>
              <a:t>xbar.hi</a:t>
            </a:r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 &lt;- </a:t>
            </a:r>
            <a:r>
              <a:rPr lang="en-US" sz="1300" dirty="0" err="1">
                <a:solidFill>
                  <a:schemeClr val="bg1"/>
                </a:solidFill>
                <a:latin typeface="Courier"/>
                <a:cs typeface="Courier"/>
              </a:rPr>
              <a:t>xbar</a:t>
            </a:r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 + </a:t>
            </a:r>
            <a:r>
              <a:rPr lang="en-US" sz="1300" dirty="0" err="1">
                <a:solidFill>
                  <a:schemeClr val="bg1"/>
                </a:solidFill>
                <a:latin typeface="Courier"/>
                <a:cs typeface="Courier"/>
              </a:rPr>
              <a:t>tc</a:t>
            </a:r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*se</a:t>
            </a:r>
          </a:p>
          <a:p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c(</a:t>
            </a:r>
            <a:r>
              <a:rPr lang="en-US" sz="1300" dirty="0" err="1">
                <a:solidFill>
                  <a:schemeClr val="bg1"/>
                </a:solidFill>
                <a:latin typeface="Courier"/>
                <a:cs typeface="Courier"/>
              </a:rPr>
              <a:t>xbar.lo</a:t>
            </a:r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, </a:t>
            </a:r>
            <a:r>
              <a:rPr lang="en-US" sz="1300" dirty="0" err="1">
                <a:solidFill>
                  <a:schemeClr val="bg1"/>
                </a:solidFill>
                <a:latin typeface="Courier"/>
                <a:cs typeface="Courier"/>
              </a:rPr>
              <a:t>xbar.hi</a:t>
            </a:r>
            <a:r>
              <a:rPr lang="en-US" sz="1300" dirty="0">
                <a:solidFill>
                  <a:schemeClr val="bg1"/>
                </a:solidFill>
                <a:latin typeface="Courier"/>
                <a:cs typeface="Courier"/>
              </a:rPr>
              <a:t>)             </a:t>
            </a:r>
            <a:r>
              <a:rPr lang="en-US" sz="1300" dirty="0">
                <a:solidFill>
                  <a:srgbClr val="FFFF00"/>
                </a:solidFill>
                <a:latin typeface="Courier"/>
                <a:cs typeface="Courier"/>
              </a:rPr>
              <a:t># </a:t>
            </a:r>
            <a:r>
              <a:rPr lang="en-US" sz="1300" dirty="0" err="1">
                <a:solidFill>
                  <a:srgbClr val="FFFF00"/>
                </a:solidFill>
                <a:latin typeface="Courier"/>
                <a:cs typeface="Courier"/>
              </a:rPr>
              <a:t>Condifence</a:t>
            </a:r>
            <a:r>
              <a:rPr lang="en-US" sz="1300" dirty="0">
                <a:solidFill>
                  <a:srgbClr val="FFFF00"/>
                </a:solidFill>
                <a:latin typeface="Courier"/>
                <a:cs typeface="Courier"/>
              </a:rPr>
              <a:t> interval for the mean</a:t>
            </a:r>
          </a:p>
          <a:p>
            <a:endParaRPr lang="en-US" sz="1300" dirty="0">
              <a:solidFill>
                <a:schemeClr val="bg1"/>
              </a:solidFill>
              <a:latin typeface="Courier"/>
              <a:cs typeface="Courier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12A37E-B955-91A9-DE59-765CE503C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70" y="5262124"/>
            <a:ext cx="5126000" cy="44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705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A5F1D-26A2-E3DF-7AC2-B91DD4BB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1634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F606F-6132-0917-905B-8D1CA9FD4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2829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35416-ECCD-3D5B-3445-70EAE7530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385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325</TotalTime>
  <Words>985</Words>
  <Application>Microsoft Macintosh PowerPoint</Application>
  <PresentationFormat>On-screen Show (4:3)</PresentationFormat>
  <Paragraphs>142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Courier</vt:lpstr>
      <vt:lpstr>Symbol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Petraco</dc:creator>
  <cp:lastModifiedBy>Nicholas Petraco</cp:lastModifiedBy>
  <cp:revision>12</cp:revision>
  <dcterms:created xsi:type="dcterms:W3CDTF">2025-10-29T10:59:30Z</dcterms:created>
  <dcterms:modified xsi:type="dcterms:W3CDTF">2025-10-29T16:25:22Z</dcterms:modified>
</cp:coreProperties>
</file>